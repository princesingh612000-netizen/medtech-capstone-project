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embeddedFontLst>
    <p:embeddedFont>
      <p:font typeface="Encode Sans Condensed" panose="020B0604020202020204" charset="0"/>
      <p:regular r:id="rId13"/>
    </p:embeddedFont>
    <p:embeddedFont>
      <p:font typeface="Encode Sans Condensed Bold" panose="020B0604020202020204" charset="0"/>
      <p:regular r:id="rId14"/>
    </p:embeddedFont>
    <p:embeddedFont>
      <p:font typeface="Encode Sans Condensed SemiBold" panose="020B0604020202020204" charset="0"/>
      <p:regular r:id="rId15"/>
    </p:embeddedFont>
    <p:embeddedFont>
      <p:font typeface="Kalam Bold" panose="020B0604020202020204" charset="0"/>
      <p:regular r:id="rId16"/>
    </p:embeddedFont>
    <p:embeddedFont>
      <p:font typeface="Saira Condensed Bold"/>
      <p:regular r:id="rId17"/>
    </p:embeddedFont>
    <p:embeddedFont>
      <p:font typeface="Saira Condensed ExtraBold" panose="020B0604020202020204" charset="0"/>
      <p:regular r:id="rId18"/>
    </p:embeddedFont>
    <p:embeddedFont>
      <p:font typeface="Spline Sans Mono Medium" panose="020B0604020202020204" charset="0"/>
      <p:regular r:id="rId19"/>
    </p:embeddedFont>
    <p:embeddedFont>
      <p:font typeface="Spline Sans Mono Semi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ce singh" userId="d5f1797129917f0c" providerId="LiveId" clId="{23404A22-7431-48C3-95BF-FFA205ECE267}"/>
    <pc:docChg chg="undo custSel addSld modSld">
      <pc:chgData name="prince singh" userId="d5f1797129917f0c" providerId="LiveId" clId="{23404A22-7431-48C3-95BF-FFA205ECE267}" dt="2026-09-21T01:13:49.663" v="91" actId="20577"/>
      <pc:docMkLst>
        <pc:docMk/>
      </pc:docMkLst>
      <pc:sldChg chg="modSp mod">
        <pc:chgData name="prince singh" userId="d5f1797129917f0c" providerId="LiveId" clId="{23404A22-7431-48C3-95BF-FFA205ECE267}" dt="2026-09-21T01:13:19.731" v="72" actId="27636"/>
        <pc:sldMkLst>
          <pc:docMk/>
          <pc:sldMk cId="0" sldId="260"/>
        </pc:sldMkLst>
        <pc:spChg chg="mod">
          <ac:chgData name="prince singh" userId="d5f1797129917f0c" providerId="LiveId" clId="{23404A22-7431-48C3-95BF-FFA205ECE267}" dt="2026-09-21T01:13:19.731" v="72" actId="27636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prince singh" userId="d5f1797129917f0c" providerId="LiveId" clId="{23404A22-7431-48C3-95BF-FFA205ECE267}" dt="2026-09-20T23:06:07.119" v="1" actId="255"/>
        <pc:sldMkLst>
          <pc:docMk/>
          <pc:sldMk cId="0" sldId="261"/>
        </pc:sldMkLst>
        <pc:spChg chg="mod">
          <ac:chgData name="prince singh" userId="d5f1797129917f0c" providerId="LiveId" clId="{23404A22-7431-48C3-95BF-FFA205ECE267}" dt="2026-09-20T23:06:07.119" v="1" actId="25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prince singh" userId="d5f1797129917f0c" providerId="LiveId" clId="{23404A22-7431-48C3-95BF-FFA205ECE267}" dt="2026-09-21T01:13:19.736" v="73" actId="27636"/>
        <pc:sldMkLst>
          <pc:docMk/>
          <pc:sldMk cId="0" sldId="262"/>
        </pc:sldMkLst>
        <pc:spChg chg="mod">
          <ac:chgData name="prince singh" userId="d5f1797129917f0c" providerId="LiveId" clId="{23404A22-7431-48C3-95BF-FFA205ECE267}" dt="2026-09-21T01:13:19.736" v="73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prince singh" userId="d5f1797129917f0c" providerId="LiveId" clId="{23404A22-7431-48C3-95BF-FFA205ECE267}" dt="2026-09-21T01:13:19.713" v="71"/>
        <pc:sldMkLst>
          <pc:docMk/>
          <pc:sldMk cId="0" sldId="263"/>
        </pc:sldMkLst>
        <pc:spChg chg="mod">
          <ac:chgData name="prince singh" userId="d5f1797129917f0c" providerId="LiveId" clId="{23404A22-7431-48C3-95BF-FFA205ECE267}" dt="2026-09-21T01:13:19.713" v="71"/>
          <ac:spMkLst>
            <pc:docMk/>
            <pc:sldMk cId="0" sldId="263"/>
            <ac:spMk id="3" creationId="{00000000-0000-0000-0000-000000000000}"/>
          </ac:spMkLst>
        </pc:spChg>
        <pc:spChg chg="mod">
          <ac:chgData name="prince singh" userId="d5f1797129917f0c" providerId="LiveId" clId="{23404A22-7431-48C3-95BF-FFA205ECE267}" dt="2026-09-21T01:13:18.884" v="62"/>
          <ac:spMkLst>
            <pc:docMk/>
            <pc:sldMk cId="0" sldId="263"/>
            <ac:spMk id="11" creationId="{00000000-0000-0000-0000-000000000000}"/>
          </ac:spMkLst>
        </pc:spChg>
      </pc:sldChg>
      <pc:sldChg chg="modSp mod">
        <pc:chgData name="prince singh" userId="d5f1797129917f0c" providerId="LiveId" clId="{23404A22-7431-48C3-95BF-FFA205ECE267}" dt="2026-09-21T01:13:19.747" v="75" actId="27636"/>
        <pc:sldMkLst>
          <pc:docMk/>
          <pc:sldMk cId="0" sldId="264"/>
        </pc:sldMkLst>
        <pc:spChg chg="mod">
          <ac:chgData name="prince singh" userId="d5f1797129917f0c" providerId="LiveId" clId="{23404A22-7431-48C3-95BF-FFA205ECE267}" dt="2026-09-21T01:13:19.744" v="74" actId="276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prince singh" userId="d5f1797129917f0c" providerId="LiveId" clId="{23404A22-7431-48C3-95BF-FFA205ECE267}" dt="2026-09-21T01:13:19.747" v="75" actId="276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prince singh" userId="d5f1797129917f0c" providerId="LiveId" clId="{23404A22-7431-48C3-95BF-FFA205ECE267}" dt="2026-09-09T18:23:36.002" v="0" actId="1076"/>
          <ac:spMkLst>
            <pc:docMk/>
            <pc:sldMk cId="0" sldId="264"/>
            <ac:spMk id="10" creationId="{00000000-0000-0000-0000-000000000000}"/>
          </ac:spMkLst>
        </pc:spChg>
      </pc:sldChg>
      <pc:sldChg chg="modSp mod">
        <pc:chgData name="prince singh" userId="d5f1797129917f0c" providerId="LiveId" clId="{23404A22-7431-48C3-95BF-FFA205ECE267}" dt="2026-09-21T01:13:19.753" v="76" actId="27636"/>
        <pc:sldMkLst>
          <pc:docMk/>
          <pc:sldMk cId="0" sldId="265"/>
        </pc:sldMkLst>
        <pc:spChg chg="mod">
          <ac:chgData name="prince singh" userId="d5f1797129917f0c" providerId="LiveId" clId="{23404A22-7431-48C3-95BF-FFA205ECE267}" dt="2026-09-21T01:13:19.753" v="76" actId="27636"/>
          <ac:spMkLst>
            <pc:docMk/>
            <pc:sldMk cId="0" sldId="265"/>
            <ac:spMk id="8" creationId="{00000000-0000-0000-0000-000000000000}"/>
          </ac:spMkLst>
        </pc:spChg>
      </pc:sldChg>
      <pc:sldChg chg="addSp modSp new mod">
        <pc:chgData name="prince singh" userId="d5f1797129917f0c" providerId="LiveId" clId="{23404A22-7431-48C3-95BF-FFA205ECE267}" dt="2026-09-21T01:13:49.663" v="91" actId="20577"/>
        <pc:sldMkLst>
          <pc:docMk/>
          <pc:sldMk cId="3718679375" sldId="266"/>
        </pc:sldMkLst>
        <pc:spChg chg="add mod">
          <ac:chgData name="prince singh" userId="d5f1797129917f0c" providerId="LiveId" clId="{23404A22-7431-48C3-95BF-FFA205ECE267}" dt="2026-09-21T01:13:40.666" v="84" actId="255"/>
          <ac:spMkLst>
            <pc:docMk/>
            <pc:sldMk cId="3718679375" sldId="266"/>
            <ac:spMk id="3" creationId="{5535D8A7-F46A-E1CD-5D08-980729912B0A}"/>
          </ac:spMkLst>
        </pc:spChg>
        <pc:spChg chg="add mod">
          <ac:chgData name="prince singh" userId="d5f1797129917f0c" providerId="LiveId" clId="{23404A22-7431-48C3-95BF-FFA205ECE267}" dt="2026-09-21T01:12:40.754" v="49" actId="20577"/>
          <ac:spMkLst>
            <pc:docMk/>
            <pc:sldMk cId="3718679375" sldId="266"/>
            <ac:spMk id="5" creationId="{5E1F064F-A977-1AF3-60F7-5696C27EF5D1}"/>
          </ac:spMkLst>
        </pc:spChg>
        <pc:spChg chg="add mod">
          <ac:chgData name="prince singh" userId="d5f1797129917f0c" providerId="LiveId" clId="{23404A22-7431-48C3-95BF-FFA205ECE267}" dt="2026-09-21T01:13:49.663" v="91" actId="20577"/>
          <ac:spMkLst>
            <pc:docMk/>
            <pc:sldMk cId="3718679375" sldId="266"/>
            <ac:spMk id="7" creationId="{43781704-7A80-08C4-AA85-D00193274D1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03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3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3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EXECUTIVE READOUT ·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9195"/>
            <a:ext cx="1127731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300" b="1" kern="0" spc="-64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HEALTHCARE SUPPLY CHAINS BALANCE SERVICE, CASH, AND CERTAINTY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0" y="1988245"/>
            <a:ext cx="11886903" cy="327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3000"/>
              </a:lnSpc>
              <a:buNone/>
            </a:pPr>
            <a:r>
              <a:rPr lang="en-US" sz="2300" b="1" dirty="0">
                <a:solidFill>
                  <a:srgbClr val="D0A34A"/>
                </a:solidFill>
                <a:latin typeface="Kalam Bold" pitchFamily="34" charset="0"/>
                <a:ea typeface="Kalam Bold" pitchFamily="34" charset="-122"/>
                <a:cs typeface="Kalam Bold" pitchFamily="34" charset="-120"/>
              </a:rPr>
              <a:t>The operating question is not “more stock.” It is “better confidence.”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189" y="2493169"/>
            <a:ext cx="414009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DATA FOUNDATION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189" y="2735163"/>
            <a:ext cx="3530512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0" spc="-160" dirty="0">
                <a:solidFill>
                  <a:srgbClr val="F4F1E8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14,218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189" y="3744813"/>
            <a:ext cx="414009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sales records cleaned for analysis.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44889" y="2493169"/>
            <a:ext cx="391150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REVENUE AT RISK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44889" y="2735163"/>
            <a:ext cx="3301917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0" spc="-160" dirty="0">
                <a:solidFill>
                  <a:srgbClr val="F4F1E8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$139,838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444889" y="3744813"/>
            <a:ext cx="391150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in cancelled revenue loss.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03995" y="2493169"/>
            <a:ext cx="3987700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ANALYTICAL PROOF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03995" y="2735163"/>
            <a:ext cx="3530512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0" spc="-160" dirty="0">
                <a:solidFill>
                  <a:srgbClr val="F4F1E8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3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203995" y="3744813"/>
            <a:ext cx="398770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statistical hypotheses validated at p &lt; 0.05.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189" y="6150868"/>
            <a:ext cx="11734506" cy="249932"/>
          </a:xfrm>
          <a:prstGeom prst="rect">
            <a:avLst/>
          </a:prstGeom>
          <a:noFill/>
          <a:ln/>
        </p:spPr>
        <p:txBody>
          <a:bodyPr wrap="none" lIns="0" tIns="50799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spc="22" dirty="0">
                <a:solidFill>
                  <a:srgbClr val="FFFFFF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-120"/>
              </a:rPr>
              <a:t>SERVICE LEVELS, WORKING CAPITAL, AND SUPPLIER CONFIDENCE MUST MOVE TOGETHER.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9945" y="2493169"/>
            <a:ext cx="12700" cy="3479899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16" name="Shape 14"/>
          <p:cNvSpPr/>
          <p:nvPr/>
        </p:nvSpPr>
        <p:spPr>
          <a:xfrm>
            <a:off x="7969051" y="2493169"/>
            <a:ext cx="12700" cy="3479899"/>
          </a:xfrm>
          <a:prstGeom prst="rect">
            <a:avLst/>
          </a:prstGeom>
          <a:solidFill>
            <a:srgbClr val="756F6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BUSINESS PROBLEM ·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9195"/>
            <a:ext cx="11277318" cy="5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kern="0" spc="-64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FOUR OPERATING GAPS DEFINE THE BUSINESS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1467545"/>
            <a:ext cx="78936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D0A34A"/>
                </a:solidFill>
                <a:latin typeface="Encode Sans Condensed SemiBold" pitchFamily="34" charset="0"/>
                <a:ea typeface="Encode Sans Condensed SemiBold" pitchFamily="34" charset="-122"/>
                <a:cs typeface="Encode Sans Condensed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9365" y="1442145"/>
            <a:ext cx="1094514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100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AVAILABILITY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89365" y="1892995"/>
            <a:ext cx="1140233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High order delay rate at </a:t>
            </a:r>
            <a:r>
              <a:rPr lang="en-US" sz="1600" b="1" dirty="0">
                <a:solidFill>
                  <a:srgbClr val="F4F1E8"/>
                </a:solidFill>
                <a:latin typeface="Encode Sans Condensed Bold" pitchFamily="34" charset="0"/>
                <a:ea typeface="Encode Sans Condensed Bold" pitchFamily="34" charset="-122"/>
                <a:cs typeface="Encode Sans Condensed Bold" pitchFamily="34" charset="-120"/>
              </a:rPr>
              <a:t>39.8%</a:t>
            </a: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189" y="2714526"/>
            <a:ext cx="81615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D0A34A"/>
                </a:solidFill>
                <a:latin typeface="Encode Sans Condensed SemiBold" pitchFamily="34" charset="0"/>
                <a:ea typeface="Encode Sans Condensed SemiBold" pitchFamily="34" charset="-122"/>
                <a:cs typeface="Encode Sans Condensed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6153" y="2689126"/>
            <a:ext cx="1091835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100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INVENTORY BALANCE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6153" y="3139976"/>
            <a:ext cx="1137554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Busy units face stockouts while low-demand units carry excess stock.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189" y="3961507"/>
            <a:ext cx="81734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D0A34A"/>
                </a:solidFill>
                <a:latin typeface="Encode Sans Condensed SemiBold" pitchFamily="34" charset="0"/>
                <a:ea typeface="Encode Sans Condensed SemiBold" pitchFamily="34" charset="-122"/>
                <a:cs typeface="Encode Sans Condensed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7344" y="3936107"/>
            <a:ext cx="1091716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100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REVENUE LEAKAGE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7344" y="4386957"/>
            <a:ext cx="1137435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Cancellations erode realized sales after demand has already appeared.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189" y="5208588"/>
            <a:ext cx="8367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D0A34A"/>
                </a:solidFill>
                <a:latin typeface="Encode Sans Condensed SemiBold" pitchFamily="34" charset="0"/>
                <a:ea typeface="Encode Sans Condensed SemiBold" pitchFamily="34" charset="-122"/>
                <a:cs typeface="Encode Sans Condensed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790" y="5183188"/>
            <a:ext cx="108977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100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6790" y="5634038"/>
            <a:ext cx="1135490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Improve availability, supplier reliability, demand planning, and cost control.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189" y="6150868"/>
            <a:ext cx="11734506" cy="249932"/>
          </a:xfrm>
          <a:prstGeom prst="rect">
            <a:avLst/>
          </a:prstGeom>
          <a:noFill/>
          <a:ln/>
        </p:spPr>
        <p:txBody>
          <a:bodyPr wrap="none" lIns="0" tIns="50799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spc="22" dirty="0">
                <a:solidFill>
                  <a:srgbClr val="FFFFFF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-120"/>
              </a:rPr>
              <a:t>THE GAP IS OPERATIONAL: SIGNALS EXIST, BUT THEY DO NOT YET DRIVE THE SAME DECISION.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189" y="2454176"/>
            <a:ext cx="11277318" cy="12700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189" y="3701157"/>
            <a:ext cx="11277318" cy="12700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189" y="4948238"/>
            <a:ext cx="11277318" cy="12700"/>
          </a:xfrm>
          <a:prstGeom prst="rect">
            <a:avLst/>
          </a:prstGeom>
          <a:solidFill>
            <a:srgbClr val="756F6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247998"/>
            <a:ext cx="1173450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ANALYTICAL METHOD ·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8" y="464245"/>
            <a:ext cx="11277318" cy="5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kern="0" spc="-64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SIX ANALYTICAL PHASES CONNECT RAW DATA TO 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3600" b="1" kern="0" spc="-64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ACTION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423095"/>
            <a:ext cx="3759106" cy="1674217"/>
          </a:xfrm>
          <a:custGeom>
            <a:avLst/>
            <a:gdLst/>
            <a:ahLst/>
            <a:cxnLst/>
            <a:rect l="l" t="t" r="r" b="b"/>
            <a:pathLst>
              <a:path w="3759106" h="1674217">
                <a:moveTo>
                  <a:pt x="9525" y="0"/>
                </a:moveTo>
                <a:lnTo>
                  <a:pt x="3759106" y="0"/>
                </a:lnTo>
                <a:lnTo>
                  <a:pt x="3759106" y="1674217"/>
                </a:lnTo>
                <a:lnTo>
                  <a:pt x="0" y="1674217"/>
                </a:lnTo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25221D"/>
          </a:solidFill>
          <a:ln/>
        </p:spPr>
      </p:sp>
      <p:sp>
        <p:nvSpPr>
          <p:cNvPr id="5" name="Shape 3"/>
          <p:cNvSpPr/>
          <p:nvPr/>
        </p:nvSpPr>
        <p:spPr>
          <a:xfrm>
            <a:off x="660383" y="1626295"/>
            <a:ext cx="523663" cy="457200"/>
          </a:xfrm>
          <a:prstGeom prst="roundRect">
            <a:avLst>
              <a:gd name="adj" fmla="val 2500"/>
            </a:avLst>
          </a:prstGeom>
          <a:noFill/>
          <a:ln w="25399">
            <a:solidFill>
              <a:srgbClr val="5D5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80" y="1702495"/>
            <a:ext cx="8792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Encode Sans Condensed SemiBold" pitchFamily="34" charset="0"/>
                <a:ea typeface="Encode Sans Condensed SemiBold" pitchFamily="34" charset="-122"/>
                <a:cs typeface="Encode Sans Condensed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0383" y="2162870"/>
            <a:ext cx="33527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-3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KICK-OFF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0383" y="2613720"/>
            <a:ext cx="396230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Frame the supply chain tradeoffs.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16295" y="1423095"/>
            <a:ext cx="3759106" cy="1674217"/>
          </a:xfrm>
          <a:prstGeom prst="rect">
            <a:avLst/>
          </a:prstGeom>
          <a:solidFill>
            <a:srgbClr val="25221D"/>
          </a:solidFill>
          <a:ln/>
        </p:spPr>
      </p:sp>
      <p:sp>
        <p:nvSpPr>
          <p:cNvPr id="10" name="Shape 8"/>
          <p:cNvSpPr/>
          <p:nvPr/>
        </p:nvSpPr>
        <p:spPr>
          <a:xfrm>
            <a:off x="4419489" y="1626295"/>
            <a:ext cx="563846" cy="457200"/>
          </a:xfrm>
          <a:prstGeom prst="roundRect">
            <a:avLst>
              <a:gd name="adj" fmla="val 2500"/>
            </a:avLst>
          </a:prstGeom>
          <a:noFill/>
          <a:ln w="25399">
            <a:solidFill>
              <a:srgbClr val="5D5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6486" y="1702495"/>
            <a:ext cx="9194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Encode Sans Condensed SemiBold" pitchFamily="34" charset="0"/>
                <a:ea typeface="Encode Sans Condensed SemiBold" pitchFamily="34" charset="-122"/>
                <a:cs typeface="Encode Sans Condensed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19489" y="2162870"/>
            <a:ext cx="33527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-3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DATA CLEANING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19489" y="2613720"/>
            <a:ext cx="396230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Python and IQR-based treatment.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75400" y="1423095"/>
            <a:ext cx="3759106" cy="1674217"/>
          </a:xfrm>
          <a:custGeom>
            <a:avLst/>
            <a:gdLst/>
            <a:ahLst/>
            <a:cxnLst/>
            <a:rect l="l" t="t" r="r" b="b"/>
            <a:pathLst>
              <a:path w="3759106" h="1674217">
                <a:moveTo>
                  <a:pt x="0" y="0"/>
                </a:moveTo>
                <a:lnTo>
                  <a:pt x="3749581" y="0"/>
                </a:lnTo>
                <a:arcTo wR="9525" hR="9525" stAng="16200000" swAng="5400000"/>
                <a:lnTo>
                  <a:pt x="3759106" y="1674217"/>
                </a:lnTo>
                <a:lnTo>
                  <a:pt x="0" y="1674217"/>
                </a:lnTo>
                <a:lnTo>
                  <a:pt x="0" y="0"/>
                </a:lnTo>
                <a:close/>
              </a:path>
            </a:pathLst>
          </a:custGeom>
          <a:solidFill>
            <a:srgbClr val="25221D"/>
          </a:solidFill>
          <a:ln/>
        </p:spPr>
      </p:sp>
      <p:sp>
        <p:nvSpPr>
          <p:cNvPr id="15" name="Shape 13"/>
          <p:cNvSpPr/>
          <p:nvPr/>
        </p:nvSpPr>
        <p:spPr>
          <a:xfrm>
            <a:off x="8178595" y="1626295"/>
            <a:ext cx="565533" cy="457200"/>
          </a:xfrm>
          <a:prstGeom prst="roundRect">
            <a:avLst>
              <a:gd name="adj" fmla="val 2500"/>
            </a:avLst>
          </a:prstGeom>
          <a:noFill/>
          <a:ln w="25399">
            <a:solidFill>
              <a:srgbClr val="5D5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5592" y="1702495"/>
            <a:ext cx="9211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Encode Sans Condensed SemiBold" pitchFamily="34" charset="0"/>
                <a:ea typeface="Encode Sans Condensed SemiBold" pitchFamily="34" charset="-122"/>
                <a:cs typeface="Encode Sans Condensed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78595" y="2162870"/>
            <a:ext cx="33527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-3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HYPOTHESIS TESTING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78595" y="2613720"/>
            <a:ext cx="396230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Validate operational relationships.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189" y="3097312"/>
            <a:ext cx="3759106" cy="1674217"/>
          </a:xfrm>
          <a:custGeom>
            <a:avLst/>
            <a:gdLst/>
            <a:ahLst/>
            <a:cxnLst/>
            <a:rect l="l" t="t" r="r" b="b"/>
            <a:pathLst>
              <a:path w="3759106" h="1674217">
                <a:moveTo>
                  <a:pt x="0" y="0"/>
                </a:moveTo>
                <a:lnTo>
                  <a:pt x="3759106" y="0"/>
                </a:lnTo>
                <a:lnTo>
                  <a:pt x="3759106" y="1674217"/>
                </a:lnTo>
                <a:lnTo>
                  <a:pt x="9525" y="1674217"/>
                </a:lnTo>
                <a:arcTo wR="9525" h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25221D"/>
          </a:solidFill>
          <a:ln/>
        </p:spPr>
      </p:sp>
      <p:sp>
        <p:nvSpPr>
          <p:cNvPr id="20" name="Shape 18"/>
          <p:cNvSpPr/>
          <p:nvPr/>
        </p:nvSpPr>
        <p:spPr>
          <a:xfrm>
            <a:off x="660383" y="3300512"/>
            <a:ext cx="594802" cy="457200"/>
          </a:xfrm>
          <a:prstGeom prst="roundRect">
            <a:avLst>
              <a:gd name="adj" fmla="val 2500"/>
            </a:avLst>
          </a:prstGeom>
          <a:noFill/>
          <a:ln w="25399">
            <a:solidFill>
              <a:srgbClr val="5D5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7380" y="3376712"/>
            <a:ext cx="9503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Encode Sans Condensed SemiBold" pitchFamily="34" charset="0"/>
                <a:ea typeface="Encode Sans Condensed SemiBold" pitchFamily="34" charset="-122"/>
                <a:cs typeface="Encode Sans Condensed SemiBold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0383" y="3837087"/>
            <a:ext cx="33527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-3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SQL MODELING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0383" y="4287937"/>
            <a:ext cx="396230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Create a queryable database.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16295" y="3097312"/>
            <a:ext cx="3759106" cy="1674217"/>
          </a:xfrm>
          <a:prstGeom prst="rect">
            <a:avLst/>
          </a:prstGeom>
          <a:solidFill>
            <a:srgbClr val="25221D"/>
          </a:solidFill>
          <a:ln/>
        </p:spPr>
      </p:sp>
      <p:sp>
        <p:nvSpPr>
          <p:cNvPr id="25" name="Shape 23"/>
          <p:cNvSpPr/>
          <p:nvPr/>
        </p:nvSpPr>
        <p:spPr>
          <a:xfrm>
            <a:off x="4419489" y="3300512"/>
            <a:ext cx="569997" cy="457200"/>
          </a:xfrm>
          <a:prstGeom prst="roundRect">
            <a:avLst>
              <a:gd name="adj" fmla="val 2500"/>
            </a:avLst>
          </a:prstGeom>
          <a:noFill/>
          <a:ln w="25399">
            <a:solidFill>
              <a:srgbClr val="5D5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6486" y="3376712"/>
            <a:ext cx="9255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Encode Sans Condensed SemiBold" pitchFamily="34" charset="0"/>
                <a:ea typeface="Encode Sans Condensed SemiBold" pitchFamily="34" charset="-122"/>
                <a:cs typeface="Encode Sans Condensed SemiBold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419489" y="3837087"/>
            <a:ext cx="33527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-3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EDA &amp; DASHBOARDS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419489" y="4287937"/>
            <a:ext cx="396230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Surface performance patterns.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75400" y="3097312"/>
            <a:ext cx="3759106" cy="1674217"/>
          </a:xfrm>
          <a:custGeom>
            <a:avLst/>
            <a:gdLst/>
            <a:ahLst/>
            <a:cxnLst/>
            <a:rect l="l" t="t" r="r" b="b"/>
            <a:pathLst>
              <a:path w="3759106" h="1674217">
                <a:moveTo>
                  <a:pt x="0" y="0"/>
                </a:moveTo>
                <a:lnTo>
                  <a:pt x="3759106" y="0"/>
                </a:lnTo>
                <a:lnTo>
                  <a:pt x="3759106" y="1664692"/>
                </a:lnTo>
                <a:arcTo wR="9525" hR="9525" stAng="0" swAng="5400000"/>
                <a:lnTo>
                  <a:pt x="0" y="1674217"/>
                </a:lnTo>
                <a:lnTo>
                  <a:pt x="0" y="0"/>
                </a:lnTo>
                <a:close/>
              </a:path>
            </a:pathLst>
          </a:custGeom>
          <a:solidFill>
            <a:srgbClr val="25221D"/>
          </a:solidFill>
          <a:ln/>
        </p:spPr>
      </p:sp>
      <p:sp>
        <p:nvSpPr>
          <p:cNvPr id="30" name="Shape 28"/>
          <p:cNvSpPr/>
          <p:nvPr/>
        </p:nvSpPr>
        <p:spPr>
          <a:xfrm>
            <a:off x="8178595" y="3300512"/>
            <a:ext cx="589940" cy="457200"/>
          </a:xfrm>
          <a:prstGeom prst="roundRect">
            <a:avLst>
              <a:gd name="adj" fmla="val 2500"/>
            </a:avLst>
          </a:prstGeom>
          <a:noFill/>
          <a:ln w="25399">
            <a:solidFill>
              <a:srgbClr val="5D5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5592" y="3376712"/>
            <a:ext cx="9455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Encode Sans Condensed SemiBold" pitchFamily="34" charset="0"/>
                <a:ea typeface="Encode Sans Condensed SemiBold" pitchFamily="34" charset="-122"/>
                <a:cs typeface="Encode Sans Condensed SemiBold" pitchFamily="34" charset="-120"/>
              </a:rPr>
              <a:t>06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178595" y="3837087"/>
            <a:ext cx="33527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-3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178595" y="4287937"/>
            <a:ext cx="396230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Translate findings into operating moves.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189" y="4949329"/>
            <a:ext cx="11734506" cy="249932"/>
          </a:xfrm>
          <a:prstGeom prst="rect">
            <a:avLst/>
          </a:prstGeom>
          <a:noFill/>
          <a:ln/>
        </p:spPr>
        <p:txBody>
          <a:bodyPr wrap="none" lIns="0" tIns="50799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spc="22" dirty="0">
                <a:solidFill>
                  <a:srgbClr val="FFFFFF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-120"/>
              </a:rPr>
              <a:t>FROM CLEAN RECORDS TO DECISIONS THAT CAN BE REPEATED, AUDITED, AND AUTOMATED.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9945" y="1423095"/>
            <a:ext cx="12700" cy="1674217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36" name="Shape 34"/>
          <p:cNvSpPr/>
          <p:nvPr/>
        </p:nvSpPr>
        <p:spPr>
          <a:xfrm>
            <a:off x="7969051" y="1423095"/>
            <a:ext cx="12700" cy="1674217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189" y="3090962"/>
            <a:ext cx="3759106" cy="12700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38" name="Shape 36"/>
          <p:cNvSpPr/>
          <p:nvPr/>
        </p:nvSpPr>
        <p:spPr>
          <a:xfrm>
            <a:off x="4209945" y="3097312"/>
            <a:ext cx="12700" cy="1674217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39" name="Shape 37"/>
          <p:cNvSpPr/>
          <p:nvPr/>
        </p:nvSpPr>
        <p:spPr>
          <a:xfrm>
            <a:off x="4216295" y="3090962"/>
            <a:ext cx="3759106" cy="12700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40" name="Shape 38"/>
          <p:cNvSpPr/>
          <p:nvPr/>
        </p:nvSpPr>
        <p:spPr>
          <a:xfrm>
            <a:off x="7969051" y="3097312"/>
            <a:ext cx="12700" cy="1674217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41" name="Shape 39"/>
          <p:cNvSpPr/>
          <p:nvPr/>
        </p:nvSpPr>
        <p:spPr>
          <a:xfrm>
            <a:off x="7975400" y="3090962"/>
            <a:ext cx="3759106" cy="12700"/>
          </a:xfrm>
          <a:prstGeom prst="rect">
            <a:avLst/>
          </a:prstGeom>
          <a:solidFill>
            <a:srgbClr val="756F6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94420"/>
            <a:ext cx="335271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DATA ARCHITECTURE ·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836414"/>
            <a:ext cx="2743131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b="1" kern="0" spc="-64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FOUR INTEGRATED DATASETS CREATE ONE OPERATING 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4309864"/>
            <a:ext cx="2743131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Context, demand, inventory, and procurement become useful when they share a common cleaning layer.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189" y="5609233"/>
            <a:ext cx="2743131" cy="65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300" b="1" dirty="0">
                <a:solidFill>
                  <a:srgbClr val="D0A34A"/>
                </a:solidFill>
                <a:latin typeface="Kalam Bold" pitchFamily="34" charset="0"/>
                <a:ea typeface="Kalam Bold" pitchFamily="34" charset="-122"/>
                <a:cs typeface="Kalam Bold" pitchFamily="34" charset="-120"/>
              </a:rPr>
              <a:t>One view. Four operating lenses.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114697" y="918766"/>
            <a:ext cx="3733707" cy="1810742"/>
          </a:xfrm>
          <a:prstGeom prst="roundRect">
            <a:avLst>
              <a:gd name="adj" fmla="val 631"/>
            </a:avLst>
          </a:prstGeom>
          <a:solidFill>
            <a:srgbClr val="25221D"/>
          </a:solidFill>
          <a:ln w="25399">
            <a:solidFill>
              <a:srgbClr val="5D5A5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291" y="1147366"/>
            <a:ext cx="507987" cy="50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43291" y="1769666"/>
            <a:ext cx="32765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-3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CONSUMPTION FACILITY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343291" y="2220516"/>
            <a:ext cx="388610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Utilization and occupancy context.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00800" y="918766"/>
            <a:ext cx="3733707" cy="1810742"/>
          </a:xfrm>
          <a:prstGeom prst="roundRect">
            <a:avLst>
              <a:gd name="adj" fmla="val 631"/>
            </a:avLst>
          </a:prstGeom>
          <a:solidFill>
            <a:srgbClr val="25221D"/>
          </a:solidFill>
          <a:ln w="25399">
            <a:solidFill>
              <a:srgbClr val="5D5A5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394" y="1147366"/>
            <a:ext cx="507987" cy="508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394" y="1769666"/>
            <a:ext cx="32765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-3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DEMAND SALES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394" y="2220516"/>
            <a:ext cx="388610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Orders, status, cancellations, and revenue.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114697" y="2881908"/>
            <a:ext cx="3733707" cy="2091134"/>
          </a:xfrm>
          <a:prstGeom prst="roundRect">
            <a:avLst>
              <a:gd name="adj" fmla="val 547"/>
            </a:avLst>
          </a:prstGeom>
          <a:solidFill>
            <a:srgbClr val="25221D"/>
          </a:solidFill>
          <a:ln w="25399">
            <a:solidFill>
              <a:srgbClr val="5D5A55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291" y="3110508"/>
            <a:ext cx="507987" cy="508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43291" y="3732808"/>
            <a:ext cx="32765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-3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INVENTORY STOCK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343291" y="4183658"/>
            <a:ext cx="327651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Stock levels, reorder levels, and stockout exposure.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000800" y="2881908"/>
            <a:ext cx="3733707" cy="2091134"/>
          </a:xfrm>
          <a:prstGeom prst="roundRect">
            <a:avLst>
              <a:gd name="adj" fmla="val 547"/>
            </a:avLst>
          </a:prstGeom>
          <a:solidFill>
            <a:srgbClr val="25221D"/>
          </a:solidFill>
          <a:ln w="25399">
            <a:solidFill>
              <a:srgbClr val="5D5A55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394" y="3110508"/>
            <a:ext cx="507987" cy="508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394" y="3732808"/>
            <a:ext cx="32765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kern="0" spc="-3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SUPPLIER PROCUREMENT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8229394" y="4183658"/>
            <a:ext cx="327651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Vendors, delivery dates, and reliability signals.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4114697" y="5150842"/>
            <a:ext cx="7619809" cy="788392"/>
          </a:xfrm>
          <a:prstGeom prst="roundRect">
            <a:avLst>
              <a:gd name="adj" fmla="val 1450"/>
            </a:avLst>
          </a:prstGeom>
          <a:solidFill>
            <a:srgbClr val="484137"/>
          </a:solidFill>
          <a:ln/>
        </p:spPr>
      </p:sp>
      <p:sp>
        <p:nvSpPr>
          <p:cNvPr id="23" name="Text 17"/>
          <p:cNvSpPr/>
          <p:nvPr/>
        </p:nvSpPr>
        <p:spPr>
          <a:xfrm>
            <a:off x="4317892" y="5404842"/>
            <a:ext cx="782300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Encode Sans Condensed Bold" pitchFamily="34" charset="0"/>
                <a:ea typeface="Encode Sans Condensed Bold" pitchFamily="34" charset="-122"/>
                <a:cs typeface="Encode Sans Condensed Bold" pitchFamily="34" charset="-120"/>
              </a:rPr>
              <a:t>Cleaning layer:</a:t>
            </a: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 IQR outlier capping, delivery-date imputation, and deduplication.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STATISTICAL TESTS ·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9195"/>
            <a:ext cx="11277318" cy="5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b="1" kern="0" spc="-64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THREE TESTS ISOLATE THE LEVERS BEHIND PERFORMANCE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442145"/>
          <a:ext cx="11277318" cy="2650860"/>
        </p:xfrm>
        <a:graphic>
          <a:graphicData uri="http://schemas.openxmlformats.org/drawingml/2006/table">
            <a:tbl>
              <a:tblPr/>
              <a:tblGrid>
                <a:gridCol w="1804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4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56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TEST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QUESTION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METHOD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DECISION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9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H1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Supplier reliability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Pearson correlation between Reliability Score and Lead Time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p &lt; 0.05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9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H2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Facility stockouts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Welch's t-test comparing Bed Days and Stockouts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p &lt; 0.05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2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H3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Department cancellations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Chi-Square test for Department and Order Cancellations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p &lt; 0.05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4270871"/>
            <a:ext cx="11886903" cy="327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3000"/>
              </a:lnSpc>
              <a:buNone/>
            </a:pPr>
            <a:r>
              <a:rPr lang="en-US" sz="2300" b="1" dirty="0">
                <a:solidFill>
                  <a:srgbClr val="D0A34A"/>
                </a:solidFill>
                <a:latin typeface="Kalam Bold" pitchFamily="34" charset="0"/>
                <a:ea typeface="Kalam Bold" pitchFamily="34" charset="-122"/>
                <a:cs typeface="Kalam Bold" pitchFamily="34" charset="-120"/>
              </a:rPr>
              <a:t>The tests turn operational suspicion into an evidence-backed decision rule.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457189" y="4775795"/>
            <a:ext cx="11734506" cy="249932"/>
          </a:xfrm>
          <a:prstGeom prst="rect">
            <a:avLst/>
          </a:prstGeom>
          <a:noFill/>
          <a:ln/>
        </p:spPr>
        <p:txBody>
          <a:bodyPr wrap="none" lIns="0" tIns="50799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spc="22" dirty="0">
                <a:solidFill>
                  <a:srgbClr val="FFFFFF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-120"/>
              </a:rPr>
              <a:t>HYPOTHESES ARE VALIDATED WHEN p &lt; 0.05.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custGeom>
            <a:avLst/>
            <a:gdLst/>
            <a:ahLst/>
            <a:cxnLst/>
            <a:rect l="l" t="t" r="r" b="b"/>
            <a:pathLst>
              <a:path w="4470288" h="6858000">
                <a:moveTo>
                  <a:pt x="9525" y="0"/>
                </a:moveTo>
                <a:lnTo>
                  <a:pt x="4470288" y="0"/>
                </a:lnTo>
                <a:lnTo>
                  <a:pt x="4470288" y="6858000"/>
                </a:lnTo>
                <a:lnTo>
                  <a:pt x="9525" y="6858000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F4F1E8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2256532"/>
            <a:ext cx="4216295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151310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H1 FINDING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31789" y="2498527"/>
            <a:ext cx="360671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0" spc="-160" dirty="0">
                <a:solidFill>
                  <a:srgbClr val="151310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OPPOSITE</a:t>
            </a:r>
            <a:endParaRPr lang="en-US" sz="6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400" kern="0" spc="-160" dirty="0">
                <a:solidFill>
                  <a:srgbClr val="151310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DIRECTION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31789" y="4320977"/>
            <a:ext cx="421629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51310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Reliability improves as lead time falls.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52876" y="1270397"/>
            <a:ext cx="7238819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SUPPLIER PERFORMANCE · 07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2876" y="1512391"/>
            <a:ext cx="6756231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300" b="1" kern="0" spc="-64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SUPPLIER RELIABILITY AND LEAD TIME MOVE IN OPPOSITE DIRECTIONS</a:t>
            </a:r>
            <a:endParaRPr lang="en-US" sz="4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76" y="3347541"/>
          <a:ext cx="6756231" cy="1354103"/>
        </p:xfrm>
        <a:graphic>
          <a:graphicData uri="http://schemas.openxmlformats.org/drawingml/2006/table">
            <a:tbl>
              <a:tblPr/>
              <a:tblGrid>
                <a:gridCol w="2297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9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9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6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VENDOR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DELAY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READ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V266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96.1%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Reliability risk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V794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0.0%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4F1E8"/>
                          </a:solidFill>
                          <a:latin typeface="Encode Sans Condensed" pitchFamily="34" charset="0"/>
                          <a:ea typeface="Encode Sans Condensed" pitchFamily="34" charset="-122"/>
                          <a:cs typeface="Encode Sans Condensed" pitchFamily="34" charset="-120"/>
                        </a:rPr>
                        <a:t>Reliability benchmark</a:t>
                      </a:r>
                      <a:endParaRPr lang="en-US" sz="1600" dirty="0">
                        <a:latin typeface="Encode Sans Condensed" charset="0"/>
                        <a:ea typeface="Encode Sans Condensed" charset="0"/>
                        <a:cs typeface="Encode Sans Condensed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952876" y="4879479"/>
            <a:ext cx="723881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4F1E8"/>
                </a:solidFill>
                <a:latin typeface="Encode Sans Condensed Bold" pitchFamily="34" charset="0"/>
                <a:ea typeface="Encode Sans Condensed Bold" pitchFamily="34" charset="-122"/>
                <a:cs typeface="Encode Sans Condensed Bold" pitchFamily="34" charset="-120"/>
              </a:rPr>
              <a:t>Action:</a:t>
            </a: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 shift orders toward vendors with scores above 85%.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52876" y="5337671"/>
            <a:ext cx="7238819" cy="249932"/>
          </a:xfrm>
          <a:prstGeom prst="rect">
            <a:avLst/>
          </a:prstGeom>
          <a:noFill/>
          <a:ln/>
        </p:spPr>
        <p:txBody>
          <a:bodyPr wrap="none" lIns="0" tIns="50799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spc="22" dirty="0">
                <a:solidFill>
                  <a:srgbClr val="FFFFFF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-120"/>
              </a:rPr>
              <a:t>VARIANCE MATTERS: THE SUPPLIER BASE DOES NOT MOVE AS ONE.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FACILITY EXPOSURE · 08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9195"/>
            <a:ext cx="1127731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300" b="1" kern="0" spc="-64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HIGH-BED-DAY FACILITIES CARRY MATERIALLY HIGHER STOCKOUT RISK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457189" y="1988245"/>
            <a:ext cx="414009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H2 FINDING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189" y="2230239"/>
            <a:ext cx="3530512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0" spc="-160" dirty="0">
                <a:solidFill>
                  <a:srgbClr val="F4F1E8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P &lt; 0.05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189" y="3239889"/>
            <a:ext cx="3530512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High bed-day facilities experience significantly higher stockout days.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44889" y="1988245"/>
            <a:ext cx="391150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EXPOSURE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44889" y="2230239"/>
            <a:ext cx="3301917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0" spc="-160" dirty="0">
                <a:solidFill>
                  <a:srgbClr val="F4F1E8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27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444889" y="3239889"/>
            <a:ext cx="391150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critical SKUs sit below reorder level.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03995" y="1988245"/>
            <a:ext cx="3987700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ACTION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03995" y="2230239"/>
            <a:ext cx="353051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00" b="1" kern="0" spc="-49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MAKE SAFETY STOCK DYNAMIC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8203995" y="3265289"/>
            <a:ext cx="3530512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Use occupancy-based levels instead of static buffers.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0" y="5645944"/>
            <a:ext cx="11886903" cy="327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3000"/>
              </a:lnSpc>
              <a:buNone/>
            </a:pPr>
            <a:r>
              <a:rPr lang="en-US" sz="2300" b="1" dirty="0">
                <a:solidFill>
                  <a:srgbClr val="D0A34A"/>
                </a:solidFill>
                <a:latin typeface="Kalam Bold" pitchFamily="34" charset="0"/>
                <a:ea typeface="Kalam Bold" pitchFamily="34" charset="-122"/>
                <a:cs typeface="Kalam Bold" pitchFamily="34" charset="-120"/>
              </a:rPr>
              <a:t>Demand intensity should change the inventory response.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57189" y="6150868"/>
            <a:ext cx="11734506" cy="249932"/>
          </a:xfrm>
          <a:prstGeom prst="rect">
            <a:avLst/>
          </a:prstGeom>
          <a:noFill/>
          <a:ln/>
        </p:spPr>
        <p:txBody>
          <a:bodyPr wrap="none" lIns="0" tIns="50799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spc="22" dirty="0">
                <a:solidFill>
                  <a:srgbClr val="FFFFFF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-120"/>
              </a:rPr>
              <a:t>BED DAYS PROVIDE THE OPERATING CONTEXT THAT STATIC REORDER RULES MISS.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9945" y="1988245"/>
            <a:ext cx="12700" cy="3479899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16" name="Shape 14"/>
          <p:cNvSpPr/>
          <p:nvPr/>
        </p:nvSpPr>
        <p:spPr>
          <a:xfrm>
            <a:off x="7969051" y="1988245"/>
            <a:ext cx="12700" cy="3479899"/>
          </a:xfrm>
          <a:prstGeom prst="rect">
            <a:avLst/>
          </a:prstGeom>
          <a:solidFill>
            <a:srgbClr val="756F6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custGeom>
            <a:avLst/>
            <a:gdLst/>
            <a:ahLst/>
            <a:cxnLst/>
            <a:rect l="l" t="t" r="r" b="b"/>
            <a:pathLst>
              <a:path w="4876678" h="6858000">
                <a:moveTo>
                  <a:pt x="9525" y="0"/>
                </a:moveTo>
                <a:lnTo>
                  <a:pt x="4876678" y="0"/>
                </a:lnTo>
                <a:lnTo>
                  <a:pt x="4876678" y="6858000"/>
                </a:lnTo>
                <a:lnTo>
                  <a:pt x="9525" y="6858000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F4F1E8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2662932"/>
            <a:ext cx="462268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151310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CANCELLED REVENUE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31789" y="2904927"/>
            <a:ext cx="40131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0" spc="-160" dirty="0">
                <a:solidFill>
                  <a:srgbClr val="151310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$139,838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31789" y="3914577"/>
            <a:ext cx="462268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51310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Total cancelled revenue loss.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59266" y="791964"/>
            <a:ext cx="6832429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DEPARTMENT SIGNAL ·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59266" y="1033959"/>
            <a:ext cx="6349841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300" b="1" kern="0" spc="-64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CANCELLATIONS ARE DEPARTMENT-SPECIFIC REVENUE LEAKAGE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359266" y="2869109"/>
            <a:ext cx="2497571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H3 FINDING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59266" y="3111103"/>
            <a:ext cx="188798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00" b="1" kern="0" spc="-49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CHI-SQUARE = 277.10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359266" y="4278503"/>
            <a:ext cx="1887986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Department and order cancellations are associated at p &lt; 0.05.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04441" y="2869109"/>
            <a:ext cx="448725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D0A34A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CONCENTRATION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04441" y="3111103"/>
            <a:ext cx="400456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00" b="1" kern="0" spc="-49" dirty="0">
                <a:solidFill>
                  <a:srgbClr val="F4F1E8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DEPARTMENT 1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7704441" y="3727053"/>
            <a:ext cx="448725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Largest sales volume and cancellations.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59266" y="5165130"/>
            <a:ext cx="683242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4F1E8"/>
                </a:solidFill>
                <a:latin typeface="Encode Sans Condensed Bold" pitchFamily="34" charset="0"/>
                <a:ea typeface="Encode Sans Condensed Bold" pitchFamily="34" charset="-122"/>
                <a:cs typeface="Encode Sans Condensed Bold" pitchFamily="34" charset="-120"/>
              </a:rPr>
              <a:t>Action:</a:t>
            </a:r>
            <a:r>
              <a:rPr lang="en-US" sz="1600" dirty="0">
                <a:solidFill>
                  <a:srgbClr val="F4F1E8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 audit the workflows driving department-level cancellations.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59266" y="5623322"/>
            <a:ext cx="6349841" cy="442714"/>
          </a:xfrm>
          <a:prstGeom prst="rect">
            <a:avLst/>
          </a:prstGeom>
          <a:noFill/>
          <a:ln/>
        </p:spPr>
        <p:txBody>
          <a:bodyPr wrap="square" lIns="0" tIns="50799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spc="22" dirty="0">
                <a:solidFill>
                  <a:srgbClr val="FFFFFF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-120"/>
              </a:rPr>
              <a:t>THE REVENUE SIGNAL IS NOT EVENLY DISTRIBUTED — THE RESPONSE SHOULD NOT BE EITHER.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69497" y="2869109"/>
            <a:ext cx="12700" cy="2118221"/>
          </a:xfrm>
          <a:prstGeom prst="rect">
            <a:avLst/>
          </a:prstGeom>
          <a:solidFill>
            <a:srgbClr val="756F6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14500"/>
          </a:xfrm>
          <a:custGeom>
            <a:avLst/>
            <a:gdLst/>
            <a:ahLst/>
            <a:cxnLst/>
            <a:rect l="l" t="t" r="r" b="b"/>
            <a:pathLst>
              <a:path w="12191695" h="1714500">
                <a:moveTo>
                  <a:pt x="9525" y="0"/>
                </a:moveTo>
                <a:lnTo>
                  <a:pt x="12182170" y="0"/>
                </a:lnTo>
                <a:arcTo wR="9525" hR="9525" stAng="16200000" swAng="5400000"/>
                <a:lnTo>
                  <a:pt x="12191695" y="1714500"/>
                </a:lnTo>
                <a:lnTo>
                  <a:pt x="0" y="1714500"/>
                </a:lnTo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25221D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304800"/>
            <a:ext cx="11810705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FFFFF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OPERATING INTELLIGENCE ·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0990" y="546795"/>
            <a:ext cx="1142971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b="1" kern="0" spc="-51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SQL TURNS ANALYSIS INTO REPEATABLE OPERATING INTELLIGENCE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80990" y="2070100"/>
            <a:ext cx="6949306" cy="3873500"/>
          </a:xfrm>
          <a:prstGeom prst="rect">
            <a:avLst/>
          </a:prstGeom>
          <a:solidFill>
            <a:srgbClr val="25221D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2349500"/>
            <a:ext cx="7000105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73" dirty="0">
                <a:solidFill>
                  <a:srgbClr val="FFFFF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-120"/>
              </a:rPr>
              <a:t>REPEATABLE SIGNALS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0383" y="2689920"/>
            <a:ext cx="6390520" cy="12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Encode Sans Condensed Bold" pitchFamily="34" charset="0"/>
                <a:ea typeface="Encode Sans Condensed Bold" pitchFamily="34" charset="-122"/>
                <a:cs typeface="Encode Sans Condensed Bold" pitchFamily="34" charset="-120"/>
              </a:rPr>
              <a:t>Stockout Risk Alerts:</a:t>
            </a: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 flag Current_Stock &lt; Reorder_Level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Encode Sans Condensed Bold" pitchFamily="34" charset="0"/>
                <a:ea typeface="Encode Sans Condensed Bold" pitchFamily="34" charset="-122"/>
                <a:cs typeface="Encode Sans Condensed Bold" pitchFamily="34" charset="-120"/>
              </a:rPr>
              <a:t>Vendor SLA Ranking:</a:t>
            </a: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 rank suppliers by On-Time Rate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Encode Sans Condensed Bold" pitchFamily="34" charset="0"/>
                <a:ea typeface="Encode Sans Condensed Bold" pitchFamily="34" charset="-122"/>
                <a:cs typeface="Encode Sans Condensed Bold" pitchFamily="34" charset="-120"/>
              </a:rPr>
              <a:t>Department Revenue Aggregations:</a:t>
            </a:r>
            <a:r>
              <a:rPr lang="en-US" sz="1600" dirty="0">
                <a:solidFill>
                  <a:srgbClr val="FFFFFF"/>
                </a:solidFill>
                <a:latin typeface="Encode Sans Condensed" pitchFamily="34" charset="0"/>
                <a:ea typeface="Encode Sans Condensed" pitchFamily="34" charset="-122"/>
                <a:cs typeface="Encode Sans Condensed" pitchFamily="34" charset="-120"/>
              </a:rPr>
              <a:t> connect sales, status, and cancellation patterns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66779" y="3352602"/>
            <a:ext cx="3464533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300" b="1" dirty="0">
                <a:solidFill>
                  <a:srgbClr val="D0A34A"/>
                </a:solidFill>
                <a:latin typeface="Kalam Bold" pitchFamily="34" charset="0"/>
                <a:ea typeface="Kalam Bold" pitchFamily="34" charset="-122"/>
                <a:cs typeface="Kalam Bold" pitchFamily="34" charset="-120"/>
              </a:rPr>
              <a:t>A SQL database makes the core signals queryable, auditable, and ready for automation.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0" y="6172200"/>
            <a:ext cx="12191695" cy="6350"/>
          </a:xfrm>
          <a:prstGeom prst="rect">
            <a:avLst/>
          </a:prstGeom>
          <a:solidFill>
            <a:srgbClr val="756F66"/>
          </a:solidFill>
          <a:ln/>
        </p:spPr>
      </p:sp>
      <p:sp>
        <p:nvSpPr>
          <p:cNvPr id="10" name="Text 8"/>
          <p:cNvSpPr/>
          <p:nvPr/>
        </p:nvSpPr>
        <p:spPr>
          <a:xfrm>
            <a:off x="380990" y="6330950"/>
            <a:ext cx="11810705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-120"/>
              </a:rPr>
              <a:t>MEDTECH SUPPLY CHAIN — SQL OPERATING LAYER — 10/10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35D8A7-F46A-E1CD-5D08-980729912B0A}"/>
              </a:ext>
            </a:extLst>
          </p:cNvPr>
          <p:cNvSpPr txBox="1"/>
          <p:nvPr/>
        </p:nvSpPr>
        <p:spPr>
          <a:xfrm>
            <a:off x="5288125" y="2550065"/>
            <a:ext cx="6097554" cy="1479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800" b="1" dirty="0">
                <a:solidFill>
                  <a:srgbClr val="D0A34A"/>
                </a:solidFill>
                <a:latin typeface="Kalam Bold" pitchFamily="34" charset="0"/>
                <a:cs typeface="Kalam Bold" pitchFamily="34" charset="-120"/>
              </a:rPr>
              <a:t>Presentation by Prashant</a:t>
            </a:r>
            <a:endParaRPr lang="en-US" sz="480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5E1F064F-A977-1AF3-60F7-5696C27EF5D1}"/>
              </a:ext>
            </a:extLst>
          </p:cNvPr>
          <p:cNvSpPr/>
          <p:nvPr/>
        </p:nvSpPr>
        <p:spPr>
          <a:xfrm>
            <a:off x="0" y="0"/>
            <a:ext cx="4876678" cy="6858000"/>
          </a:xfrm>
          <a:custGeom>
            <a:avLst/>
            <a:gdLst/>
            <a:ahLst/>
            <a:cxnLst/>
            <a:rect l="l" t="t" r="r" b="b"/>
            <a:pathLst>
              <a:path w="4876678" h="6858000">
                <a:moveTo>
                  <a:pt x="9525" y="0"/>
                </a:moveTo>
                <a:lnTo>
                  <a:pt x="4876678" y="0"/>
                </a:lnTo>
                <a:lnTo>
                  <a:pt x="4876678" y="6858000"/>
                </a:lnTo>
                <a:lnTo>
                  <a:pt x="9525" y="6858000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F4F1E8"/>
          </a:solidFill>
          <a:ln/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3781704-7A80-08C4-AA85-D00193274D15}"/>
              </a:ext>
            </a:extLst>
          </p:cNvPr>
          <p:cNvSpPr/>
          <p:nvPr/>
        </p:nvSpPr>
        <p:spPr>
          <a:xfrm>
            <a:off x="806321" y="2218609"/>
            <a:ext cx="360671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800" kern="0" spc="-160" dirty="0">
                <a:solidFill>
                  <a:srgbClr val="151310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Thank     		You</a:t>
            </a:r>
          </a:p>
        </p:txBody>
      </p:sp>
    </p:spTree>
    <p:extLst>
      <p:ext uri="{BB962C8B-B14F-4D97-AF65-F5344CB8AC3E}">
        <p14:creationId xmlns:p14="http://schemas.microsoft.com/office/powerpoint/2010/main" val="3718679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673</Words>
  <Application>Microsoft Office PowerPoint</Application>
  <PresentationFormat>Widescreen</PresentationFormat>
  <Paragraphs>146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Saira Condensed ExtraBold</vt:lpstr>
      <vt:lpstr>Spline Sans Mono SemiBold</vt:lpstr>
      <vt:lpstr>Spline Sans Mono Medium</vt:lpstr>
      <vt:lpstr>Kalam Bold</vt:lpstr>
      <vt:lpstr>Encode Sans Condensed SemiBold</vt:lpstr>
      <vt:lpstr>Encode Sans Condensed</vt:lpstr>
      <vt:lpstr>Saira Condensed Bold</vt:lpstr>
      <vt:lpstr>Encode Sans Condensed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prince singh</cp:lastModifiedBy>
  <cp:revision>2</cp:revision>
  <dcterms:created xsi:type="dcterms:W3CDTF">2026-09-09T14:24:35Z</dcterms:created>
  <dcterms:modified xsi:type="dcterms:W3CDTF">2026-09-21T01:13:53Z</dcterms:modified>
</cp:coreProperties>
</file>